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  <p:sldId id="275" r:id="rId26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eloperlife.com/2021/11/04/introduction-to-ink-v3/" TargetMode="External"/><Relationship Id="rId3" Type="http://schemas.openxmlformats.org/officeDocument/2006/relationships/hyperlink" Target="https://github.com/vadimdemedes/ink" TargetMode="External"/><Relationship Id="rId4" Type="http://schemas.openxmlformats.org/officeDocument/2006/relationships/hyperlink" Target="https://harness-engineering.ai/blog/agent-harness-complete-guide/" TargetMode="External"/><Relationship Id="rId5" Type="http://schemas.openxmlformats.org/officeDocument/2006/relationships/hyperlink" Target="https://learn.microsoft.com/en-us/agent-framework/agents/harness?pivots=programming-language-csharp" TargetMode="External"/><Relationship Id="rId6" Type="http://schemas.openxmlformats.org/officeDocument/2006/relationships/hyperlink" Target="https://lteu.github.io/agent-test/" TargetMode="External"/><Relationship Id="rId7" Type="http://schemas.openxmlformats.org/officeDocument/2006/relationships/hyperlink" Target="https://lteu.github.io/agent/cli.html" TargetMode="External"/><Relationship Id="rId8" Type="http://schemas.openxmlformats.org/officeDocument/2006/relationships/hyperlink" Target="https://lteu.github.io/agent/harness.html" TargetMode="External"/><Relationship Id="rId9" Type="http://schemas.openxmlformats.org/officeDocument/2006/relationships/hyperlink" Target="https://github.com/lteu/agent_bi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TERMINAL AI AGENT · INTERNAL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7406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52B35"/>
                </a:solidFill>
                <a:latin typeface="PingFang SC"/>
              </a:rPr>
              <a:t>终端 AI Agent
技术架构与实践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62072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6E6A60"/>
                </a:solidFill>
                <a:latin typeface="PingFang SC"/>
              </a:rPr>
              <a:t>初步揭秘引发生产力巨变的 AI Agent，部分理论和实践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474720"/>
            <a:ext cx="6903720" cy="731520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8503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CHAMPION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3621024"/>
            <a:ext cx="48463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252B35"/>
                </a:solidFill>
                <a:latin typeface="PingFang SC"/>
              </a:rPr>
              <a:t>终端 AI Agent 的效率，不来自“更快生成”，而来自可验证的「理解 → 执行 → 验证」闭环。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489704"/>
            <a:ext cx="68762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实证参考：4,867 位开发者的现场随机试验，AI 编程辅助使完成任务数 +26.08%。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82896"/>
            <a:ext cx="1133856" cy="265176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914900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内部技术分享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4882896"/>
            <a:ext cx="8229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491490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6FA6"/>
                </a:solidFill>
                <a:latin typeface="Avenir Next Condensed"/>
              </a:rPr>
              <a:t>2026.07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758952"/>
            <a:ext cx="3063240" cy="507492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0881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$ terminal-ai-agent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1627632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1755648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E6FA6"/>
                </a:solidFill>
                <a:latin typeface="Avenir Next Condensed"/>
              </a:rPr>
              <a:t>USER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193852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24942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2560320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688336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85C36"/>
                </a:solidFill>
                <a:latin typeface="Avenir Next Condensed"/>
              </a:rPr>
              <a:t>TOOL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871215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318211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3493008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3621024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E8657"/>
                </a:solidFill>
                <a:latin typeface="Avenir Next Condensed"/>
              </a:rP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80390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411480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6E6A60"/>
                </a:solidFill>
                <a:latin typeface="Avenir Next Condensed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5632" y="4425696"/>
            <a:ext cx="2441448" cy="60350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0224" y="4553712"/>
            <a:ext cx="1325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65A9B"/>
                </a:solidFill>
                <a:latin typeface="Avenir Next Condensed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224" y="473659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7103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PingFang SC"/>
              </a:rPr>
              <a:t>汇报人：刘通  /  团队：数据生态组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  /  OPENING 开篇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本次分享的三个部分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理论概念与工程模块  →  Harness 框架  →  团队实践与评测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" y="2898648"/>
            <a:ext cx="2532888" cy="3657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CLI AI Agent 终端智能体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定义、核心概念、工程组件与 Harness 五大核心能力。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Avenir Next Condensed"/>
              </a:rPr>
              <a:t>03–07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898648"/>
            <a:ext cx="2532888" cy="36576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Harness 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四款 Agent 的循环、上下文与状态工程实现对比。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08–12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2" y="2148840"/>
            <a:ext cx="3337560" cy="25146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423160"/>
            <a:ext cx="475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898648"/>
            <a:ext cx="2532888" cy="36576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026664"/>
            <a:ext cx="27249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agent_biz 业务智能体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75887"/>
            <a:ext cx="27066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工程实践、GAIA 基准测试、案例回放与总结展望。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25696"/>
            <a:ext cx="2706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Avenir Next Condensed"/>
              </a:rPr>
              <a:t>13–21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35838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Avenir Next Condensed"/>
              </a:rPr>
              <a:t>阅读路径：从“是什么”，到“如何运行”，再到“如何在企业内部构建、验证与持续演进”。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6492240"/>
            <a:ext cx="3749039" cy="274320"/>
          </a:xfrm>
          <a:prstGeom prst="rect">
            <a:avLst/>
          </a:prstGeom>
          <a:solidFill>
            <a:srgbClr val="F6F2E7"/>
          </a:solidFill>
          <a:ln>
            <a:solidFill>
              <a:srgbClr val="F6F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终端 AI 智能体技术调研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03  /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先给结论：终端 AI Agent 的价值在“可执行、可验证、可演进”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此页用于替换成汇报中最重要的 3 条结论。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93392"/>
            <a:ext cx="54864" cy="228600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01｜不是聊天界面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核心差异是 Agent 能调用工具、观察结果，并在终端中完成多步任务。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93392"/>
            <a:ext cx="54864" cy="2286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02｜Harness 是操作系统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LLM 提供推理能力；Harness 管理上下文、工具、权限、恢复与验证。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993392"/>
            <a:ext cx="3493008" cy="228600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993392"/>
            <a:ext cx="54864" cy="228600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2185416"/>
            <a:ext cx="262432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结论 03｜小而透明更适合演进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569464"/>
            <a:ext cx="3054096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以可替换的核心 Loop 起步，通过 Benchmark 驱动增强，而非堆叠框架。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4828032"/>
            <a:ext cx="10972800" cy="65836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38344"/>
            <a:ext cx="10378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建议决策：〔例如：以自研轻量 Harness 为核心，兼容主流工具协议，并用任务集持续校准能力〕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03  / 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终端 AI Agent 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一句话：在终端中将语言理解、工具调用和反馈循环闭合的任务执行者。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11680"/>
            <a:ext cx="4983480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042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TRADITIONAL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517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52B35"/>
                </a:solidFill>
                <a:latin typeface="PingFang SC"/>
              </a:rPr>
              <a:t>确定性命令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63240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Avenir Next Condensed"/>
              </a:rPr>
              <a:t>输入参数  →  程序执行  →  固定输出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3456432"/>
            <a:ext cx="4443984" cy="1115568"/>
          </a:xfrm>
          <a:prstGeom prst="roundRect">
            <a:avLst/>
          </a:prstGeom>
          <a:solidFill>
            <a:srgbClr val="252B35"/>
          </a:solidFill>
          <a:ln>
            <a:solidFill>
              <a:srgbClr val="25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ditional_cli.png"/>
          <p:cNvPicPr>
            <a:picLocks noChangeAspect="1"/>
          </p:cNvPicPr>
          <p:nvPr/>
        </p:nvPicPr>
        <p:blipFill>
          <a:blip r:embed="rId2"/>
          <a:srcRect t="26244" b="26244"/>
          <a:stretch>
            <a:fillRect/>
          </a:stretch>
        </p:blipFill>
        <p:spPr>
          <a:xfrm>
            <a:off x="877824" y="3474720"/>
            <a:ext cx="4407408" cy="1078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4809744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适合：明确、单步、可预期的操作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011680"/>
            <a:ext cx="5038344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30428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TERMINAL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65176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52B35"/>
                </a:solidFill>
                <a:latin typeface="PingFang SC"/>
              </a:rPr>
              <a:t>面向目标的循环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30632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Avenir Next Condensed"/>
              </a:rPr>
              <a:t>目标  →  计划  →  调用工具  →  观察  →  修正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3456432"/>
            <a:ext cx="4471416" cy="1115568"/>
          </a:xfrm>
          <a:prstGeom prst="roundRect">
            <a:avLst/>
          </a:prstGeom>
          <a:solidFill>
            <a:srgbClr val="252B35"/>
          </a:solidFill>
          <a:ln>
            <a:solidFill>
              <a:srgbClr val="25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gent_cli.png"/>
          <p:cNvPicPr>
            <a:picLocks noChangeAspect="1"/>
          </p:cNvPicPr>
          <p:nvPr/>
        </p:nvPicPr>
        <p:blipFill>
          <a:blip r:embed="rId3"/>
          <a:srcRect t="33134" b="33134"/>
          <a:stretch>
            <a:fillRect/>
          </a:stretch>
        </p:blipFill>
        <p:spPr>
          <a:xfrm>
            <a:off x="6821424" y="3474720"/>
            <a:ext cx="443484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21424" y="4809744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适合：开放、多步、需根据环境反馈调整的任务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650992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关键变化：从「用户告诉程序怎么做」转向「用户说明想达成什么」。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04  / 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252B35"/>
                </a:solidFill>
                <a:latin typeface="PingFang SC"/>
              </a:rPr>
              <a:t>终端 AI Agent 的工程组件：从界面到真实执行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PingFang SC"/>
              </a:rPr>
              <a:t>以项目实现为例：TUI 提供交互，Node.js 承载运行时，Harness 编排模型与工具，执行环境完成真实操作。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93392"/>
            <a:ext cx="2084831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8541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15910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TUI · Ink /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06624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编辑输入、流式输出、进度展示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993392"/>
            <a:ext cx="214884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218541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44144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Node.js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706624"/>
            <a:ext cx="1600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启动、配置、信号、打包与分发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9592" y="1856231"/>
            <a:ext cx="2889504" cy="3255264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2084831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350008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B85C36"/>
                </a:solidFill>
                <a:latin typeface="PingFang SC"/>
              </a:rPr>
              <a:t>Agent Harness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871216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7628" y="2916936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8163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83464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循环、状态、退出条件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346704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7628" y="3392424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291840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Session &amp;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31012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历史、系统提示、工具定义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5624" y="3822191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7628" y="3867912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767328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Compact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785615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压缩上下文、核验与修正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5624" y="4297680"/>
            <a:ext cx="210312" cy="2103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7628" y="4343400"/>
            <a:ext cx="155448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Avenir Next Condense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24281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 i="0">
                <a:solidFill>
                  <a:srgbClr val="252B35"/>
                </a:solidFill>
                <a:latin typeface="PingFang SC"/>
              </a:rPr>
              <a:t>Skill Loading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26110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PingFang SC"/>
              </a:rPr>
              <a:t>按需加载可复用操作手册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377440"/>
            <a:ext cx="292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50" b="1" i="0">
                <a:solidFill>
                  <a:srgbClr val="6E6A60"/>
                </a:solidFill>
                <a:latin typeface="Avenir Next Condensed"/>
              </a:rPr>
              <a:t>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44584" y="1993392"/>
            <a:ext cx="2313432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218541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2441448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LLM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706624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理解、规划、生成工具调用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3749039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6E6A60"/>
                </a:solidFill>
                <a:latin typeface="PingFang SC"/>
              </a:rPr>
              <a:t>Harness 将工具调用调度到真实执行环境，并把观察结果回灌模型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24344" y="5120640"/>
            <a:ext cx="0" cy="384048"/>
          </a:xfrm>
          <a:prstGeom prst="line">
            <a:avLst/>
          </a:prstGeom>
          <a:ln w="1778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53312" y="5504688"/>
            <a:ext cx="9454896" cy="0"/>
          </a:xfrm>
          <a:prstGeom prst="line">
            <a:avLst/>
          </a:prstGeom>
          <a:ln w="1778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27632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PingFang SC"/>
              </a:rPr>
              <a:t>文件系统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read / write / list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98264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410711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57015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PingFang SC"/>
              </a:rPr>
              <a:t>命令执行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bash / child_process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68896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181344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PingFang SC"/>
              </a:rPr>
              <a:t>浏览器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24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Playwright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39528" y="5504688"/>
            <a:ext cx="0" cy="146304"/>
          </a:xfrm>
          <a:prstGeom prst="line">
            <a:avLst/>
          </a:prstGeom>
          <a:ln w="1397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951976" y="5650992"/>
            <a:ext cx="1993392" cy="5486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579729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765A9B"/>
                </a:solidFill>
                <a:latin typeface="PingFang SC"/>
              </a:rPr>
              <a:t>常驻终端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0655" y="5815584"/>
            <a:ext cx="9326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tmux session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05  / 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252B35"/>
                </a:solidFill>
                <a:latin typeface="PingFang SC"/>
              </a:rPr>
              <a:t>AI Agent = LLM +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模型负责生成与判断；Harness 把原始推理能力变成一个在真实环境中可控、可靠完成任务的系统。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2852928" cy="1353312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40280"/>
            <a:ext cx="804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2E6FA6"/>
                </a:solidFill>
                <a:latin typeface="Avenir Next Condensed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推理引擎 / 原始能力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35808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像 CPU：能执行推理，但不管理系统。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487168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6E6A60"/>
                </a:solidFill>
                <a:latin typeface="Avenir Next Condensed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29968"/>
            <a:ext cx="3913632" cy="1353312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2402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1" i="0">
                <a:solidFill>
                  <a:srgbClr val="B85C36"/>
                </a:solidFill>
                <a:latin typeface="Avenir Next Condensed"/>
              </a:rPr>
              <a:t>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67919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运行时 / 控制与编排层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35808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C36"/>
                </a:solidFill>
                <a:latin typeface="PingFang SC"/>
              </a:rPr>
              <a:t>其中 Agent Loop 是执行内核。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487168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6E6A60"/>
                </a:solidFill>
                <a:latin typeface="Avenir Next Condensed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2029968"/>
            <a:ext cx="2286000" cy="1353312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240280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E8657"/>
                </a:solidFill>
                <a:latin typeface="Avenir Next Condensed"/>
              </a:rP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2715768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可执行的任务系统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Harness 的职责：Agent Loop + 四个保障层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06240"/>
            <a:ext cx="1993392" cy="11704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407408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38912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1947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决策、调用、观察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206240"/>
            <a:ext cx="1993392" cy="11704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4407408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438912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上下文与记忆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491947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拼装、压缩、恢复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2352" y="4206240"/>
            <a:ext cx="1993392" cy="11704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4407408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438912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工具与进程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491947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选择、执行、隔离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4344" y="4206240"/>
            <a:ext cx="1993392" cy="11704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4407408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94A48"/>
                </a:solidFill>
                <a:latin typeface="Avenir Next Condense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38912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权限与恢复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491947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审批、重试、断点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46336" y="4206240"/>
            <a:ext cx="1993392" cy="11704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0928" y="4407408"/>
            <a:ext cx="246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438912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验证与观测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491947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测试、确认、指标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650992"/>
            <a:ext cx="10881360" cy="45720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779008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PingFang SC"/>
              </a:rPr>
              <a:t>关系：Agent Loop ⊂ Harness —— Loop 让 Agent 不断行动；Harness 让行动可控、可靠、可恢复。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06  / 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Agent Loop：Harness 内的执行内核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Harness 先提供上下文、工具与边界；Loop 再驱动 LLM 和工具反复协作，直到任务完成。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93392"/>
            <a:ext cx="10972800" cy="314553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AGENT LOOP / HARNESS EXECUTION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33488" y="2157984"/>
            <a:ext cx="370332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2189988"/>
            <a:ext cx="3703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94A48"/>
                </a:solidFill>
                <a:latin typeface="Avenir Next Condensed"/>
              </a:rPr>
              <a:t>Exit: task done / user stop / budget exhausted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理解目标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5808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规划下一步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执行工具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8624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657"/>
                </a:solidFill>
                <a:latin typeface="Avenir Next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观察结果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23697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2" y="2999232"/>
            <a:ext cx="1554480" cy="822960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4624" y="3172968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338328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验证 / 继续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0" y="4169663"/>
            <a:ext cx="0" cy="438913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828800" y="4608576"/>
            <a:ext cx="8412480" cy="0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828800" y="4169663"/>
            <a:ext cx="0" cy="438913"/>
          </a:xfrm>
          <a:prstGeom prst="line">
            <a:avLst/>
          </a:prstGeom>
          <a:ln w="19050">
            <a:solidFill>
              <a:srgbClr val="B85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26080" y="470916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B85C36"/>
                </a:solidFill>
                <a:latin typeface="Avenir Next Condensed"/>
              </a:rPr>
              <a:t>未完成：带着 observation 回到下一轮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22392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6A60"/>
                </a:solidFill>
                <a:latin typeface="PingFang SC"/>
              </a:rPr>
              <a:t>Harness 在每一轮提供并约束 Loop：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61488" y="5358384"/>
            <a:ext cx="15087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539038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765A9B"/>
                </a:solidFill>
                <a:latin typeface="Avenir Next Condensed"/>
              </a:rPr>
              <a:t>上下文 /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26864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8657"/>
                </a:solidFill>
                <a:latin typeface="Avenir Next Condensed"/>
              </a:rPr>
              <a:t>工具 / 进程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94A48"/>
                </a:solidFill>
                <a:latin typeface="Avenir Next Condensed"/>
              </a:rPr>
              <a:t>权限 / 策略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5358384"/>
            <a:ext cx="137160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296" y="53903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验证 / 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07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Harness 的工程实现：1 个执行内核 + 5 个保障层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Agent Loop 负责让任务持续向前；其余模块负责让每一步可理解、可控、可验证、可恢复。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682496"/>
            <a:ext cx="3337560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71450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HARNESS = AGENT LOOP + SUPPORTING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965960"/>
            <a:ext cx="54864" cy="1225296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执行内核：状态、决策迭代、退出条件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965960"/>
            <a:ext cx="54864" cy="122529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Context &amp;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拼装任务、历史、环境与约束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65960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965960"/>
            <a:ext cx="54864" cy="1225296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167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2157984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Tool 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2542032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定义、选择、校验与执行隔离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3593591"/>
            <a:ext cx="54864" cy="1225296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State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压缩历史、保存状态、断点续跑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52544" y="3593591"/>
            <a:ext cx="54864" cy="1225296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834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Permission &amp;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风险分级、审批、审计与边界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3593591"/>
            <a:ext cx="3438144" cy="1225296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1583" y="3593591"/>
            <a:ext cx="54864" cy="1225296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379475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3785615"/>
            <a:ext cx="2569463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Verification &amp;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4169663"/>
            <a:ext cx="29992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测试、确认、重试、回滚与升级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7725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工程判断：先让 Loop 跑起来，再按任务风险补齐上下文、工具、状态、权限与验证；它们共同构成 Harness。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08  / 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52B35"/>
                </a:solidFill>
                <a:latin typeface="PingFang SC"/>
              </a:rPr>
              <a:t>四个代表性终端 Agent：分别是谁，为什么值得看？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E6A60"/>
                </a:solidFill>
                <a:latin typeface="PingFang SC"/>
              </a:rPr>
              <a:t>它们不在竞争同一个位置：从商业编码助手、个人 Agent 入口，到可复用 Harness 与自我进化的自主 Agent。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20240"/>
            <a:ext cx="64008" cy="166420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212140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9572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终端里的 Agentic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4320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E6FA6"/>
                </a:solidFill>
                <a:latin typeface="PingFang SC"/>
              </a:rPr>
              <a:t>商业编码 Agent 的标杆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6974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2E6FA6"/>
                </a:solidFill>
                <a:latin typeface="Avenir Next Condensed"/>
              </a:rPr>
              <a:t>138k 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304495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321868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让模型直接理解代码库、执行命令与 Git 工作流。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920240"/>
            <a:ext cx="64008" cy="166420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0312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12140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OpenClaw 社区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39572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你的个人 AI 助手：任意 OS、任意平台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74320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B85C36"/>
                </a:solidFill>
                <a:latin typeface="PingFang SC"/>
              </a:rPr>
              <a:t>开源个人 Agent 的破圈案例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69748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B85C36"/>
                </a:solidFill>
                <a:latin typeface="Avenir Next Condensed"/>
              </a:rPr>
              <a:t>383k ★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55664" y="304495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55664" y="321868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复用 Pi Agent Core；自身聚焦 Gateway、渠道与编排。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88620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3886200"/>
            <a:ext cx="64008" cy="166420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06908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408736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Earendil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36168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Agent Harness：可组合的运行时积木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70916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E8657"/>
                </a:solidFill>
                <a:latin typeface="PingFang SC"/>
              </a:rPr>
              <a:t>开发者导向的开源基础设施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6634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2E8657"/>
                </a:solidFill>
                <a:latin typeface="Avenir Next Condensed"/>
              </a:rPr>
              <a:t>70.7k ★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6" y="501091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18464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把 LLM API、Agent Loop、TUI 和 Coding CLI 拆成独立组件。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886200"/>
            <a:ext cx="5230368" cy="166420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886200"/>
            <a:ext cx="64008" cy="166420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069080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087368"/>
            <a:ext cx="103327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19" b="1" i="0">
                <a:solidFill>
                  <a:srgbClr val="6E6A60"/>
                </a:solidFill>
                <a:latin typeface="Avenir Next Condensed"/>
              </a:rPr>
              <a:t>Nous 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361688"/>
            <a:ext cx="44165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The agent that grows with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709160"/>
            <a:ext cx="3127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765A9B"/>
                </a:solidFill>
                <a:latin typeface="PingFang SC"/>
              </a:rPr>
              <a:t>自我学习 Agent 的新代表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46634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50" b="1" i="0">
                <a:solidFill>
                  <a:srgbClr val="765A9B"/>
                </a:solidFill>
                <a:latin typeface="Avenir Next Condensed"/>
              </a:rPr>
              <a:t>214k 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55664" y="5010912"/>
            <a:ext cx="4608576" cy="0"/>
          </a:xfrm>
          <a:prstGeom prst="line">
            <a:avLst/>
          </a:prstGeom>
          <a:ln w="7620">
            <a:solidFill>
              <a:srgbClr val="DD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55664" y="5184648"/>
            <a:ext cx="4498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从经验中沉淀技能、跨会话记忆，并可部署到自己的环境。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989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PingFang SC"/>
              </a:rPr>
              <a:t>影响力指标：GitHub Stars（截至 2026-07-14）；它衡量社区关注度，不等同于企业收入或实际部署规模。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09  /  SOURCE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52B35"/>
                </a:solidFill>
                <a:latin typeface="PingFang SC"/>
              </a:rPr>
              <a:t>Harness 能力与源代码实现：谁在负责什么？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同一能力的责任边界不同：Claude Code 偏产品型 CLI，OpenClaw 偏 Gateway 编排，Pi 是可复用 runtime，Hermes 偏自主运行平台。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65376"/>
            <a:ext cx="64008" cy="150876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queryLoop()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embedded Pi 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runLoop()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85C36"/>
                </a:solidFill>
                <a:latin typeface="Avenir Next Condensed"/>
              </a:rPr>
              <a:t>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run_conversation()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1865376"/>
            <a:ext cx="64008" cy="150876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Context &amp;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effective prompt + compact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workspace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 / JSONL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prompt parts + compressor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186537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3" y="1865376"/>
            <a:ext cx="64008" cy="15087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0391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202082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Tool Orchestration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36829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CC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235915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typed Tool + hooks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57860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256946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OpenClaw tool adapter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27889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7656" y="277977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ToolDefinition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299923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8657"/>
                </a:solidFill>
                <a:latin typeface="Avenir Next Condensed"/>
              </a:rPr>
              <a:t>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99008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registry.register()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" y="3739896"/>
            <a:ext cx="64008" cy="150876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State &amp;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957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957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transcript + parentId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957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session harness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765A9B"/>
                </a:solidFill>
                <a:latin typeface="Avenir Next Condensed"/>
              </a:rPr>
              <a:t>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957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memory + checkpoint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52544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52544" y="3739896"/>
            <a:ext cx="64008" cy="15087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5371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6519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Permission &amp; Policy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285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CC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861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tool permission 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6285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OC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861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deny / allowlist / full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285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2861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delegate to sandbox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6285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B94A48"/>
                </a:solidFill>
                <a:latin typeface="Avenir Next Condensed"/>
              </a:rPr>
              <a:t>HS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2861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command guards + approval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01583" y="3739896"/>
            <a:ext cx="3438144" cy="15087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01583" y="3739896"/>
            <a:ext cx="64008" cy="150876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2752" y="391363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14232" y="3895344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Verification &amp; Recovery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11896" y="4242816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CC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77656" y="4233672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Stop / tool hooks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11896" y="4453128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OC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77656" y="4443984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result / compact guards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11896" y="466344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PI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77656" y="4654296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events + extensions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11896" y="4873752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2E6FA6"/>
                </a:solidFill>
                <a:latin typeface="Avenir Next Condensed"/>
              </a:rPr>
              <a:t>HS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77656" y="4864608"/>
            <a:ext cx="2596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 i="0">
                <a:solidFill>
                  <a:srgbClr val="6E6A60"/>
                </a:solidFill>
                <a:latin typeface="Avenir Next Condensed"/>
              </a:rPr>
              <a:t>verify hooks + recovery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593445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阅读方式：这一页定位“源码责任归属”；后续三页用经典问题横向比较不同实现如何取舍。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10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Agent Loop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共性：模型无后续工具调用则结束。差异：谁拥有停止标准、重试预算与规划责任。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停止标准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完成、上限与中断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tool-use 信号 + maxTurns、abort、Stop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queryLoop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Pi Loop 结束；业务完成条件交给 workspace /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pi-embedded-runner/run.ts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最终文本 / 无工具调用即结束；不强制领域验收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finish reason + 终止分支；verify nudge 可追加一轮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无限 / 无效重试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失败分类、预算与恢复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maxTurns + fallback；413 压缩 / Stop hook 定向重试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retry transitions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继承 Pi；另有 compaction retry、tool-result guard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pi-embedded-runner/*guard*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无“无进展”硬熔断；由宿主补充 task budget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TurnRetryState + max_retries + 退避 / failover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Planning &amp; Replanning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计划表达、更新与证据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Plan mode / Todo / Skill；模型依据结果自行重规划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query.ts · permissionMode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无独立 planner；由 Pi prompt、Skill、workflow 承担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embedded runner + workspace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core 刻意无规划意见；交给宿主和外部工具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packages/agent/agent-loop.ts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提示、记忆、Skill / 工作流承载；无强制里程碑协议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conversation_loop.py + memory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11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Context &amp; Prompt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上下文工程决定模型能否保留目标与证据，并在 token 受限时持续推进长任务。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超长输入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截断、重读与 token 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micro / auto compact；413 时 strip、压缩后重试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services/compact · query.ts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Pi 压缩 + OpenClaw overflow / 结果链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pi-embedded-runner/compact*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session；自动 compaction 与会话重建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prompt parts + compressor；chunked retry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prompt_builder.py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Long-horizon 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目标与进度持续可见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SessionMemory、CLAUDE.md、Skill / Todo；无强制 task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SessionMemory · skills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workspace、渠道会话、cron、Skill；由上层编排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agents/skills/workspace.ts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parentId + JSONL 可续接；目标结构由宿主定义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持久记忆 + checkpoint，长程恢复是一等能力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memory/* · checkpoint*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Context Compression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压缩保真、可恢复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micro / auto 两级压缩，主动与被动路径分开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services/compact/compact.ts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独立 handler + retry；保护 parentId / tool result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pi-embedded-runner/compact*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runtime / Coding Agent 均有 transcript compaction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agent-loop.ts · agent-session.ts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压缩后重建请求；memory compressor 协作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prompt_builder.py · loop.py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12  /  SOURCE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四个 Agent 如何处理 State &amp; Memory 的三个经典问题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长程任务的核心不是“记得更多”，而是状态可信、恢复不重放、并发不互相污染。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92224"/>
            <a:ext cx="1600200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1435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经典问题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6FA6"/>
                </a:solidFill>
                <a:latin typeface="Avenir Next Condensed"/>
              </a:rPr>
              <a:t>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B85C36"/>
                </a:solidFill>
                <a:latin typeface="Avenir Next Condensed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85432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2E8657"/>
                </a:solidFill>
                <a:latin typeface="Avenir Next Condensed"/>
              </a:rPr>
              <a:t>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8008" y="1792224"/>
            <a:ext cx="2212848" cy="38404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1901952"/>
            <a:ext cx="204825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" b="1" i="0">
                <a:solidFill>
                  <a:srgbClr val="765A9B"/>
                </a:solidFill>
                <a:latin typeface="Avenir Next Condensed"/>
              </a:rPr>
              <a:t>HERMES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304288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崩溃恢复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8712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恢复后不重复执行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会话续接为主；未见通用外部 action checkpoint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8296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SessionMemory/*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parentId、compaction、tool-result guard 维护会话链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pi-embedded-runner/session*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85432" y="2304288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616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可续接；真实外部状态由宿主重新观察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coding-agent/session*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8008" y="2304288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08008" y="2304288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432304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414016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checkpoint manager + memory provider 支持长期恢复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108960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checkpoint* · memory/*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529584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3685032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陈旧 / 污染记忆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2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来源、作用域与淘汰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40280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9464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项目规则 / 会话记忆分层；无统一 TTL / 置信度模型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claudemd* · SessionMemory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62856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62856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workspace snapshot 稳定一次 run；长期策略偏上层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0872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agents/skills/workspace.ts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3529584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4616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JSONL / parentId 保存历史；不做事实冲突消解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3448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agent-session.ts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08008" y="3529584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08008" y="3529584"/>
            <a:ext cx="41148" cy="1115568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3657600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65A9B"/>
                </a:solidFill>
                <a:latin typeface="Avenir Next Condense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37192" y="3639312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memory provider、compressor、learning graph 独立实现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433425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memory/* · learning_graph.py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754880"/>
            <a:ext cx="1600200" cy="1115568"/>
          </a:xfrm>
          <a:prstGeom prst="roundRect">
            <a:avLst/>
          </a:prstGeom>
          <a:solidFill>
            <a:srgbClr val="F7F1E4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4910328"/>
            <a:ext cx="136245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52B35"/>
                </a:solidFill>
                <a:latin typeface="PingFang SC"/>
              </a:rPr>
              <a:t>多 Agent / 多渠道冲突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" y="5321808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0" b="0" i="0">
                <a:solidFill>
                  <a:srgbClr val="6E6A60"/>
                </a:solidFill>
                <a:latin typeface="PingFang SC"/>
              </a:rPr>
              <a:t>所有权、版本与并发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40280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40280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8296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9464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单 CLI 会话优先；无跨 Agent 状态协调层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68296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tools/Tool.ts · session*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62856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90872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Gateway 编排渠道、会话与 node host 生命周期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90872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gateway/* · agents/*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85432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85432" y="4754880"/>
            <a:ext cx="41148" cy="1115568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13448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14616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单 Agent runtime；multi-agent ownership 留给宿主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13448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packages/agent/*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08008" y="4754880"/>
            <a:ext cx="2212848" cy="1115568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4754880"/>
            <a:ext cx="41148" cy="1115568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4882896"/>
            <a:ext cx="155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~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37192" y="4864608"/>
            <a:ext cx="17373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1" i="0">
                <a:solidFill>
                  <a:srgbClr val="252B35"/>
                </a:solidFill>
                <a:latin typeface="PingFang SC"/>
              </a:rPr>
              <a:t>支持子 Agent / 多渠道；无通用资源锁 / merge 协议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5559552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 i="0">
                <a:solidFill>
                  <a:srgbClr val="6E6A60"/>
                </a:solidFill>
                <a:latin typeface="Avenir Next Condensed"/>
              </a:rPr>
              <a:t>agent/* · gateway/*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6" y="6108192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✓ 明确内建   ~ 部分覆盖 / 交给上层   ✕ 未见统一的一等机制   ·   结论基于当前源码快照。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13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agent_biz：从 Claude Code 出发，在真实业务环境中打磨的终端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 i="0">
                <a:solidFill>
                  <a:srgbClr val="6E6A60"/>
                </a:solidFill>
                <a:latin typeface="PingFang SC"/>
              </a:rPr>
              <a:t>主要参考 Claude Code 的产品体验与 Agent Loop；辅参考 OpenClaw、Pi、Hermes 的工程拆分；由 Claude Code vibe coding 起步，并在 Oceanus 实践中持续修改。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56231"/>
            <a:ext cx="54864" cy="112471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6FA6"/>
                </a:solidFill>
                <a:latin typeface="Avenir Next Condensed"/>
              </a:rPr>
              <a:t>主要参考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终端交互、工具调用、编码 Agent 体验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856231"/>
            <a:ext cx="54864" cy="112471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5C36"/>
                </a:solidFill>
                <a:latin typeface="Avenir Next Condensed"/>
              </a:rPr>
              <a:t>辅助借鉴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OpenClaw / Pi / Hermes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编排、可复用 runtime、记忆与恢复思路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56231"/>
            <a:ext cx="3438144" cy="1124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56231"/>
            <a:ext cx="54864" cy="112471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029968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8657"/>
                </a:solidFill>
                <a:latin typeface="Avenir Next Condensed"/>
              </a:rPr>
              <a:t>实践打磨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9514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agent_biz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596896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在业务任务与 Oceanus 环境中持续调优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31012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6E6A60"/>
                </a:solidFill>
                <a:latin typeface="PingFang SC"/>
              </a:rPr>
              <a:t>当前工作区代码量对比（线性尺度；TS / TSX / JS / JSX / Python；含项目测试与支撑代码，非“核心逻辑复杂度”结论）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76472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agent_biz (Qfin)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3675887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40280" y="3675887"/>
            <a:ext cx="22738" cy="274320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749039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8657"/>
                </a:solidFill>
                <a:latin typeface="Avenir Next Condensed"/>
              </a:rPr>
              <a:t>6,048 LOC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4" y="3749039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20624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105655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40280" y="4105655"/>
            <a:ext cx="817674" cy="274320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178807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8657"/>
                </a:solidFill>
                <a:latin typeface="Avenir Next Condensed"/>
              </a:rPr>
              <a:t>217,482 LOC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4178807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36×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636007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Claude 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4535423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40280" y="4535423"/>
            <a:ext cx="1927560" cy="274320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4608575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2E6FA6"/>
                </a:solidFill>
                <a:latin typeface="Avenir Next Condensed"/>
              </a:rPr>
              <a:t>512,685 LOC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4608575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85×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065776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OpenClaw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0280" y="4965192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240280" y="4965192"/>
            <a:ext cx="1989212" cy="274320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38344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B85C36"/>
                </a:solidFill>
                <a:latin typeface="Avenir Next Condensed"/>
              </a:rPr>
              <a:t>529,083 LOC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6104" y="503834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87×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49554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Hermes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40280" y="5394959"/>
            <a:ext cx="6080760" cy="274320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240280" y="5394959"/>
            <a:ext cx="6080760" cy="274320"/>
          </a:xfrm>
          <a:prstGeom prst="round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546811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60" b="1" i="0">
                <a:solidFill>
                  <a:srgbClr val="765A9B"/>
                </a:solidFill>
                <a:latin typeface="Avenir Next Condensed"/>
              </a:rPr>
              <a:t>1,617,337 LOC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6104" y="546811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E6A60"/>
                </a:solidFill>
                <a:latin typeface="Avenir Next Condensed"/>
              </a:rPr>
              <a:t>267×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971032"/>
            <a:ext cx="10698480" cy="29260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6044184"/>
            <a:ext cx="102595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 i="0">
                <a:solidFill>
                  <a:srgbClr val="2E8657"/>
                </a:solidFill>
                <a:latin typeface="PingFang SC"/>
              </a:rPr>
              <a:t>解读：agent_biz 用约 6K 行代码保留可运行、可改造、可审查的核心闭环；复杂能力按业务需要逐步补齐，而非一次复制成熟产品的全部体量。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14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 执行界面：直接在 Oceanus 内部任务环境中工作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 i="0">
                <a:solidFill>
                  <a:srgbClr val="6E6A60"/>
                </a:solidFill>
                <a:latin typeface="PingFang SC"/>
              </a:rPr>
              <a:t>开源地址：gitlab.daikuan.qihoo.net/biz-model/agent_biz  ·  读代码、调用工具、执行命令、汇总结果。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66543" y="1618488"/>
            <a:ext cx="8055864" cy="430682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runtime.png"/>
          <p:cNvPicPr>
            <a:picLocks noChangeAspect="1"/>
          </p:cNvPicPr>
          <p:nvPr/>
        </p:nvPicPr>
        <p:blipFill>
          <a:blip r:embed="rId2"/>
          <a:srcRect t="95" b="95"/>
          <a:stretch>
            <a:fillRect/>
          </a:stretch>
        </p:blipFill>
        <p:spPr>
          <a:xfrm>
            <a:off x="2139696" y="1691640"/>
            <a:ext cx="79095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" y="5980176"/>
            <a:ext cx="10954512" cy="256032"/>
          </a:xfrm>
          <a:prstGeom prst="roundRect">
            <a:avLst/>
          </a:prstGeom>
          <a:solidFill>
            <a:srgbClr val="EEE7D6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044184"/>
            <a:ext cx="106253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252B35"/>
                </a:solidFill>
                <a:latin typeface="PingFang SC"/>
              </a:rPr>
              <a:t>核心价值：把 Agent 放到业务现场，让执行过程、工具调用和结果证据可见、可复核。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15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agent_biz 个性化修改：用户可以直接调整 Agent 行为与性能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 i="0">
                <a:solidFill>
                  <a:srgbClr val="6E6A60"/>
                </a:solidFill>
                <a:latin typeface="PingFang SC"/>
              </a:rPr>
              <a:t>模型、提示、工具、输出展示与行为逻辑均可通过源码和配置直接修改；调整过程本身也可被 Agent 协助完成。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66543" y="1618488"/>
            <a:ext cx="8055864" cy="430682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customization.png"/>
          <p:cNvPicPr>
            <a:picLocks noChangeAspect="1"/>
          </p:cNvPicPr>
          <p:nvPr/>
        </p:nvPicPr>
        <p:blipFill>
          <a:blip r:embed="rId2"/>
          <a:srcRect t="2914" b="2914"/>
          <a:stretch>
            <a:fillRect/>
          </a:stretch>
        </p:blipFill>
        <p:spPr>
          <a:xfrm>
            <a:off x="2139696" y="1691640"/>
            <a:ext cx="79095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" y="5980176"/>
            <a:ext cx="10954512" cy="256032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044184"/>
            <a:ext cx="106253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0" b="1" i="0">
                <a:solidFill>
                  <a:srgbClr val="252B35"/>
                </a:solidFill>
                <a:latin typeface="PingFang SC"/>
              </a:rPr>
              <a:t>工程定位：透明、可审计的内部 Agent，降低对闭源云端工具的黑盒依赖与信息外发顾虑。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16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Benchmark：测的不是“会不会答题”，而是 Agent 能不能完成真实任务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GAIA（General AI Assistants）由 Mialon 等在 ICLR 2024 发布：466 道人工设计题，面向推理、多模态、网页检索与工具使用。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6596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65960"/>
            <a:ext cx="64008" cy="107899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671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85C36"/>
                </a:solidFill>
                <a:latin typeface="PingFang SC"/>
              </a:rPr>
              <a:t>多步推理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3288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拆解条件、计算、交叉验证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96596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1965960"/>
            <a:ext cx="64008" cy="107899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6FA6"/>
                </a:solidFill>
                <a:latin typeface="PingFang SC"/>
              </a:rPr>
              <a:t>外部信息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3288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浏览、检索、阅读网页与文档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38328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3383280"/>
            <a:ext cx="64008" cy="107899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5844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8657"/>
                </a:solidFill>
                <a:latin typeface="PingFang SC"/>
              </a:rPr>
              <a:t>工具 / 多模态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5020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文件、图像、视频、代码和命令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383280"/>
            <a:ext cx="5212080" cy="107899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3383280"/>
            <a:ext cx="64008" cy="1078992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765A9B"/>
                </a:solidFill>
                <a:latin typeface="PingFang SC"/>
              </a:rPr>
              <a:t>精确交付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0208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6E6A60"/>
                </a:solidFill>
                <a:latin typeface="PingFang SC"/>
              </a:rPr>
              <a:t>遵守格式、单位、答案粒度与约束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5074920"/>
            <a:ext cx="10698480" cy="74980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28523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为什么适合终端 AI Agent？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5285232"/>
            <a:ext cx="7635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它要求 Agent 把“模型推理”闭合成“检索 → 工具执行 → 结果核验 → 精确回答”的端到端流程。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108192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Avenir Next Condensed"/>
              </a:rPr>
              <a:t>来源：GAIA: A Benchmark for General AI Assistants（ICLR 2024 / arXiv:2311.12983）。本次仅选取 Level 1 + 2 的 30 题样本做本地对照。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17  /  EVALUATION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先把比较边界说清楚：这里既在比较模型，也在验证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0">
                <a:solidFill>
                  <a:srgbClr val="6E6A60"/>
                </a:solidFill>
                <a:latin typeface="PingFang SC"/>
              </a:rPr>
              <a:t>所有结果来自本次 GAIA 运行：同一 30 道 Level 1 + 2 题、同一 quasi-exact-match 评分口径；不是通用排行榜。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74519"/>
            <a:ext cx="5230368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874519"/>
            <a:ext cx="73152" cy="3246120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6FA6"/>
                </a:solidFill>
                <a:latin typeface="PingFang SC"/>
              </a:rPr>
              <a:t>对照组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87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252B35"/>
                </a:solidFill>
                <a:latin typeface="PingFang SC"/>
              </a:rPr>
              <a:t>Claude Code（claudecode）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53512"/>
            <a:ext cx="4160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模型：Claude Sonnet 5
模式：直接推理 / 独立运行
结果：19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61104"/>
            <a:ext cx="4187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它是一个完整的产品型 CLI Agent，对照的是“成熟 Harness + 特定模型”的整体体验。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74519"/>
            <a:ext cx="5230368" cy="324612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74519"/>
            <a:ext cx="73152" cy="324612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1305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PingFang SC"/>
              </a:rPr>
              <a:t>实验组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252B35"/>
                </a:solidFill>
                <a:latin typeface="PingFang SC"/>
              </a:rPr>
              <a:t>agent_biz（同一 Agent 框架）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953512"/>
            <a:ext cx="433425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模型：glm-5.2 / doubao-turbo-2.1 /
deepseek-v4-pro / deepseek-flash / doubao-mini-2.0
方式：固定框架，只切换模型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261104"/>
            <a:ext cx="41879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B35"/>
                </a:solidFill>
                <a:latin typeface="PingFang SC"/>
              </a:rPr>
              <a:t>因此：实验组内部的分差主要反映模型与服务稳定性；与 Claude Code 的比较反映“产品 Harness + 模型”的整体差异。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413248"/>
            <a:ext cx="10698480" cy="475488"/>
          </a:xfrm>
          <a:prstGeom prst="roundRect">
            <a:avLst/>
          </a:prstGeom>
          <a:solidFill>
            <a:srgbClr val="F1E7D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59552"/>
            <a:ext cx="10195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B85C36"/>
                </a:solidFill>
                <a:latin typeface="PingFang SC"/>
              </a:rPr>
              <a:t>解释原则：不要把 agent_biz 内不同模型的结果差异误归因为框架能力；也不要把 Claude Code 的单次结果泛化为所有 Claude 模型。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18  / 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样本严格口径：Claude Code 与 doubao-turbo-2.1 并列第一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严格口径：28 道可比较题；timeout 与 leak-tainted 正确答案均按错误计分。它衡量“能稳定产出可信答案”的端到端能力。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93392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Claude Code · Sonnet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13632" y="1901952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13632" y="1901952"/>
            <a:ext cx="3880485" cy="34747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38944" y="1975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6FA6"/>
                </a:solidFill>
                <a:latin typeface="Avenir Next Condensed"/>
              </a:rPr>
              <a:t>67.9%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8752" y="199339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doubao-turbo-2.1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2468880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13632" y="2468880"/>
            <a:ext cx="3880485" cy="34747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8944" y="254203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8657"/>
                </a:solidFill>
                <a:latin typeface="Avenir Next Condensed"/>
              </a:rPr>
              <a:t>67.9%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8752" y="2560320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27248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glm-5.2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3035808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13632" y="3035808"/>
            <a:ext cx="3674745" cy="34747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8944" y="310896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B85C36"/>
                </a:solidFill>
                <a:latin typeface="Avenir Next Condensed"/>
              </a:rPr>
              <a:t>64.3%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3127248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694176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deepseek-v4-pro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3602736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13632" y="3602736"/>
            <a:ext cx="3469005" cy="34747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3675887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2E8657"/>
                </a:solidFill>
                <a:latin typeface="Avenir Next Condensed"/>
              </a:rPr>
              <a:t>60.7%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8752" y="3694176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261104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deepseek-flash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4169664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13632" y="4169664"/>
            <a:ext cx="3263265" cy="347472"/>
          </a:xfrm>
          <a:prstGeom prst="roundRect">
            <a:avLst/>
          </a:prstGeom>
          <a:solidFill>
            <a:srgbClr val="0E8F8F"/>
          </a:solidFill>
          <a:ln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4242816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0E8F8F"/>
                </a:solidFill>
                <a:latin typeface="Avenir Next Condensed"/>
              </a:rPr>
              <a:t>57.1%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4261104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28031"/>
            <a:ext cx="318211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agent_biz · doubao-mini-2.0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13632" y="4736592"/>
            <a:ext cx="5715000" cy="34747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913632" y="4736592"/>
            <a:ext cx="2245995" cy="347472"/>
          </a:xfrm>
          <a:prstGeom prst="round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480974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70" b="1" i="0">
                <a:solidFill>
                  <a:srgbClr val="765A9B"/>
                </a:solidFill>
                <a:latin typeface="Avenir Next Condensed"/>
              </a:rPr>
              <a:t>39.3%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4828031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18/28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" y="5477256"/>
            <a:ext cx="10698480" cy="47548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623560"/>
            <a:ext cx="10222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2E8657"/>
                </a:solidFill>
                <a:latin typeface="PingFang SC"/>
              </a:rPr>
              <a:t>关键信号：同一 agent_biz 框架切换模型后，成绩从 39.3% 到 67.9%；模型选择与服务可靠性是当前最大变量。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144768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6A60"/>
                </a:solidFill>
                <a:latin typeface="Avenir Next Condensed"/>
              </a:rPr>
              <a:t>数据：GAIA 本地样本；strict aligned comparison（28 题）。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20  /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52B35"/>
                </a:solidFill>
                <a:latin typeface="PingFang SC"/>
              </a:rPr>
              <a:t>总结：从理解终端 AI Agent，到构建并验证企业内 Agent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本次调研的价值不只是选型，更是明确了终端 AI Agent 的工程问题、可行实现路径与企业内落地边界。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01952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901952"/>
            <a:ext cx="64008" cy="100584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057400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PingFang SC"/>
              </a:rPr>
              <a:t>理解了终端 AI Agent 的问题特点与开发挑战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386584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Agent Loop 之外，Context、Tool、State、Permission、Verification 共同决定任务能否安全、可靠、可恢复地完成。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118104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3118104"/>
            <a:ext cx="64008" cy="100584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9272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273552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PingFang SC"/>
              </a:rPr>
              <a:t>成功开发 agent_biz：轻代码量、兼容企业平台、逻辑透明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602736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主参考 Claude Code、辅参考其他 Agent 框架；以约 6K LOC 形成可在 Oceanus 运行、无黑盒暗门、可核查、可由用户自主调整迭代的框架。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334256"/>
            <a:ext cx="10698480" cy="100584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4334256"/>
            <a:ext cx="64008" cy="100584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3542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489704"/>
            <a:ext cx="5806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765A9B"/>
                </a:solidFill>
                <a:latin typeface="PingFang SC"/>
              </a:rPr>
              <a:t>配置国产模型后，取得有竞争力的 GAIA 样本结果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818888"/>
            <a:ext cx="9070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90" b="0" i="0">
                <a:solidFill>
                  <a:srgbClr val="6E6A60"/>
                </a:solidFill>
                <a:latin typeface="PingFang SC"/>
              </a:rPr>
              <a:t>在本地 GAIA 30 题样本的严格口径中，agent_biz + doubao-turbo-2.1 达到 67.9%（19/28），与 Claude Code + Sonnet 5 并列第一。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705856"/>
            <a:ext cx="10698480" cy="384048"/>
          </a:xfrm>
          <a:prstGeom prst="roundRect">
            <a:avLst/>
          </a:prstGeom>
          <a:solidFill>
            <a:srgbClr val="F1E7D2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824728"/>
            <a:ext cx="1025956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90" b="1" i="0">
                <a:solidFill>
                  <a:srgbClr val="B85C36"/>
                </a:solidFill>
                <a:latin typeface="PingFang SC"/>
              </a:rPr>
              <a:t>下一阶段：让更多真实业务任务反哺 agent_biz，持续补齐安全、可靠、评测与系统集成能力。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181344"/>
            <a:ext cx="7315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6A60"/>
                </a:solidFill>
                <a:latin typeface="Avenir Next Condensed"/>
              </a:rPr>
              <a:t>口径：GAIA 为本地 30 题样本；严格对齐比较 28 题；结果用于工程验证，不代表官方总榜。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19  /  QUESTION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GAIA 题目回放：Pie Menus first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30" b="0" i="0">
                <a:solidFill>
                  <a:srgbClr val="6E6A60"/>
                </a:solidFill>
                <a:latin typeface="PingFang SC"/>
              </a:rPr>
              <a:t>Level 1 · 检索 + 作者消歧 + 文献时间线。它直观展示：同一个 Harness 换模型，及不同 Agent 产品，对“精确证据链”的处理差异。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19072"/>
            <a:ext cx="10698480" cy="786384"/>
          </a:xfrm>
          <a:prstGeom prst="roundRect">
            <a:avLst/>
          </a:prstGeom>
          <a:solidFill>
            <a:srgbClr val="F1E7D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168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1" i="0">
                <a:solidFill>
                  <a:srgbClr val="252B35"/>
                </a:solidFill>
                <a:latin typeface="PingFang SC"/>
              </a:rPr>
              <a:t>题目（译）：在 2015 年论文《Pie Menus or Linear Menus, Which Is Better?》的作者中，找出此前发表过论文的那位作者；其最早发表论文的标题是什么？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679192"/>
            <a:ext cx="10698480" cy="438912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10204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 i="0">
                <a:solidFill>
                  <a:srgbClr val="2E8657"/>
                </a:solidFill>
                <a:latin typeface="Avenir Next Condensed"/>
              </a:rPr>
              <a:t>标准答案：Mapping Human Oriented Information to Software Agents for Online Systems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3355848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3355848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5204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Claude Code · Sonnet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75887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355848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3355848"/>
            <a:ext cx="50292" cy="5943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52044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glm-5.2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675887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Mapping human-oriented information to software agents for online systems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078224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" y="4078224"/>
            <a:ext cx="50292" cy="59436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8657"/>
                </a:solidFill>
                <a:latin typeface="Avenir Next Condense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97096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doubao-turbo-2.1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98264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Mapping human-oriented information to software agents for online systems usage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4078224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4078224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97096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deepseek-v4-pro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398264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A new software agent 'learning' algorithm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800600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4800600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6519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19472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deepseek-flash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120640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4800600"/>
            <a:ext cx="5212080" cy="59436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4800600"/>
            <a:ext cx="50292" cy="594360"/>
          </a:xfrm>
          <a:prstGeom prst="rect">
            <a:avLst/>
          </a:prstGeom>
          <a:solidFill>
            <a:srgbClr val="B94A48"/>
          </a:solidFill>
          <a:ln>
            <a:solidFill>
              <a:srgbClr val="B94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96519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94A48"/>
                </a:solidFill>
                <a:latin typeface="Avenir Next Condensed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919472"/>
            <a:ext cx="2240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252B35"/>
                </a:solidFill>
                <a:latin typeface="PingFang SC"/>
              </a:rPr>
              <a:t>agent_biz · doubao-mini-2.0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5120640"/>
            <a:ext cx="4480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6E6A60"/>
                </a:solidFill>
                <a:latin typeface="Avenir Next Condensed"/>
              </a:rPr>
              <a:t>Effectiveness of Mapping Human-Oriented Information to Software Agents for Online Teaching Environments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650992"/>
            <a:ext cx="10698480" cy="402336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69864"/>
            <a:ext cx="10222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252B35"/>
                </a:solidFill>
                <a:latin typeface="PingFang SC"/>
              </a:rPr>
              <a:t>读法：这是“精确文献追溯”而非泛泛相关性判断；6 个运行中仅 glm-5.2 与 doubao-turbo-2.1 命中精确标题。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17220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 i="0">
                <a:solidFill>
                  <a:srgbClr val="6E6A60"/>
                </a:solidFill>
                <a:latin typeface="Avenir Next Condensed"/>
              </a:rPr>
              <a:t>数据来源：GAIA · Pie Menus first paper · Level 1。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07  / 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技术路线对比：框架能力与工程取舍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表格中的项目可替换为你实际调研对象；用“适配场景”代替泛泛评价。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965960"/>
            <a:ext cx="193852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75564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路线 / 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1965960"/>
            <a:ext cx="1901952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121408"/>
            <a:ext cx="17190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核心范式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965960"/>
            <a:ext cx="212140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21408"/>
            <a:ext cx="1938527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优势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965960"/>
            <a:ext cx="221284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121408"/>
            <a:ext cx="2029967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代价 / 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965960"/>
            <a:ext cx="2487168" cy="475488"/>
          </a:xfrm>
          <a:prstGeom prst="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2121408"/>
            <a:ext cx="23042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E6A60"/>
                </a:solidFill>
                <a:latin typeface="Avenir Next Condensed"/>
              </a:rPr>
              <a:t>适配场景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2441448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69464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轻量自研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87752" y="2441448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569464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最小 Loop + 工具协议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41448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569464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透明、可控、易裁剪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441448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569464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需自行补齐工程能力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441448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2569464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产品早期 / 强定制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3145536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273552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CLI 成熟方案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87752" y="3145536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27355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终端原生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145536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273552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交互、权限、上下文完善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145536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3273552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抽象较深 / 依赖绑定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145536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2288" y="3273552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研发效能场景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3849624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977639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通用 Agent 框架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87752" y="3849624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977639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编排 / 多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849624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3977639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生态丰富、集成快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849624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76288" y="3977639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复杂度与调试成本高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3849624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2288" y="3977639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复杂工作流验证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" y="4553712"/>
            <a:ext cx="193852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681728"/>
            <a:ext cx="1755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1" i="0">
                <a:solidFill>
                  <a:srgbClr val="252B35"/>
                </a:solidFill>
                <a:latin typeface="PingFang SC"/>
              </a:rPr>
              <a:t>云端托管 Agent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87752" y="4553712"/>
            <a:ext cx="1901952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4681728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平台化运行时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553712"/>
            <a:ext cx="212140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4681728"/>
            <a:ext cx="19385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运维与可观测性较完整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4553712"/>
            <a:ext cx="221284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76288" y="4681728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数据、成本、可移植性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4553712"/>
            <a:ext cx="2487168" cy="704088"/>
          </a:xfrm>
          <a:prstGeom prst="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2288" y="4681728"/>
            <a:ext cx="23042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70" b="0" i="0">
                <a:solidFill>
                  <a:srgbClr val="6E6A60"/>
                </a:solidFill>
                <a:latin typeface="PingFang SC"/>
              </a:rPr>
              <a:t>快速试点 / 标准流程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5623560"/>
            <a:ext cx="9875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Avenir Next Condensed"/>
              </a:rPr>
              <a:t>调研口径：统一选取〔任务类型〕、〔模型〕、〔环境〕，避免把模型能力误归因于框架。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08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Benchmark 不是分数表，而是能力拆解工具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推荐把任务按“是否需要真实执行 / 是否可验证 / 风险等级”三个维度切分。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7510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2219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6FA6"/>
                </a:solidFill>
                <a:latin typeface="Avenir Next Condense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671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单步工具调用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52374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读取文件、搜索代码、格式转换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7510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22199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85C36"/>
                </a:solidFill>
                <a:latin typeface="Avenir Next Condensed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1671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多步任务规划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52374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定位问题 → 修改 → 执行测试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43814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6850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E8657"/>
                </a:solidFill>
                <a:latin typeface="Avenir Next Condensed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30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环境反馈修正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98678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命令失败后分析原因并调整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438144"/>
            <a:ext cx="5230368" cy="10972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685032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B94A48"/>
                </a:solidFill>
                <a:latin typeface="Avenir Next Condensed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6301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安全与权限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98678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危险命令确认、敏感信息处理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248656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Avenir Next Condensed"/>
              </a:rPr>
              <a:t>评分建议：任务成功率 40%  ·  过程可靠性 30%  ·  安全合规 20%  ·  成本与耗时 10%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09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测试结果模板：让结论一眼可读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仅展示统一条件下的结果，并在页脚补充任务数、模型版本、运行环境。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03703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2084831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76272" y="2084831"/>
            <a:ext cx="4839004" cy="43891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89136" y="2185415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6FA6"/>
                </a:solidFill>
                <a:latin typeface="Avenir Next Condensed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2783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3108960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76272" y="3108960"/>
            <a:ext cx="5645505" cy="4389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2095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Avenir Next Condensed"/>
              </a:rPr>
              <a:t>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51959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我们的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4133087"/>
            <a:ext cx="67208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76272" y="4133087"/>
            <a:ext cx="6115964" cy="43891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423367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8657"/>
                </a:solidFill>
                <a:latin typeface="Avenir Next Condensed"/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58384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可替换图表：成功率 / 平均耗时 / 成本 / 人工介入次数 / 安全拒绝率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47672"/>
            <a:ext cx="3072384" cy="2615184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2219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READOUT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55117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结果解读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3118103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7" y="3017520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领先项：〔填写〕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3602736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7" y="3502152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短板项：〔填写〕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4087368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3986783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下一轮验证：〔填写〕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007608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E6A60"/>
                </a:solidFill>
                <a:latin typeface="Avenir Next Condensed"/>
              </a:rPr>
              <a:t>N=〔任务数量〕  ·  Model=〔版本〕  ·  Env=〔环境〕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10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我们的 Agent：一个可读、可改、可执行的核心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此页用于介绍项目定位和最能支撑“为什么做”的 3 个特性。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2011680"/>
            <a:ext cx="54864" cy="2359152"/>
          </a:xfrm>
          <a:prstGeom prst="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逻辑透明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核心状态机与工具调用路径可追踪；新同学可以从主循环快速理解系统。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54864" cy="2359152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核心简洁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保持最小依赖与少量抽象，复杂能力按需以插件或策略层叠加。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2011680"/>
            <a:ext cx="3429000" cy="235915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011680"/>
            <a:ext cx="54864" cy="2359152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2128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8657"/>
                </a:solidFill>
                <a:latin typeface="Avenir Next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20370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252B35"/>
                </a:solidFill>
                <a:latin typeface="PingFang SC"/>
              </a:rPr>
              <a:t>执行能力强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587752"/>
            <a:ext cx="2990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A60"/>
                </a:solidFill>
                <a:latin typeface="PingFang SC"/>
              </a:rPr>
              <a:t>面向真实仓库与终端环境，强调观察、纠错、验证的闭环完成率。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95604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项目入口：〔repo / command / 文档链接〕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94960"/>
            <a:ext cx="9692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适用边界：〔目标用户〕  ·  〔典型任务〕  ·  〔当前不处理的场景〕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11  /  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复杂度对比：用代码量解释，别用代码量证明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LOC 只作为理解维护成本的辅助证据，需搭配能力覆盖和结果数据。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4027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我们的核心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121408"/>
            <a:ext cx="237744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2121408"/>
            <a:ext cx="1854403" cy="438912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8657"/>
                </a:solidFill>
                <a:latin typeface="Avenir Next Condensed"/>
              </a:rPr>
              <a:t>〔120〕 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9183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A 关键路径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3172968"/>
            <a:ext cx="576072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2928" y="3172968"/>
            <a:ext cx="4493361" cy="438912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32826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2E6FA6"/>
                </a:solidFill>
                <a:latin typeface="Avenir Next Condensed"/>
              </a:rPr>
              <a:t>〔680〕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4339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52B35"/>
                </a:solidFill>
                <a:latin typeface="PingFang SC"/>
              </a:rPr>
              <a:t>方案 B 关键路径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4224527"/>
            <a:ext cx="8595360" cy="438912"/>
          </a:xfrm>
          <a:prstGeom prst="roundRect">
            <a:avLst/>
          </a:prstGeom>
          <a:solidFill>
            <a:srgbClr val="EEE7D6"/>
          </a:solidFill>
          <a:ln>
            <a:solidFill>
              <a:srgbClr val="EEE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2928" y="4224527"/>
            <a:ext cx="6704380" cy="438912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94592" y="433425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B85C36"/>
                </a:solidFill>
                <a:latin typeface="Avenir Next Condensed"/>
              </a:rPr>
              <a:t>〔1,240〕 LOC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04104"/>
            <a:ext cx="10552176" cy="48463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55955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0"/>
                </a:solidFill>
                <a:latin typeface="Avenir Next Condensed"/>
              </a:rPr>
              <a:t>口径提示：统计范围 = 〔核心 Agent 路径〕；排除 〔生成代码 / 依赖 / 测试〕；日期 = 〔YYYY-MM-DD〕。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12  / 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52B35"/>
                </a:solidFill>
                <a:latin typeface="PingFang SC"/>
              </a:rPr>
              <a:t>下一步：用测试集驱动能力迭代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6E6A60"/>
                </a:solidFill>
                <a:latin typeface="PingFang SC"/>
              </a:rPr>
              <a:t>路线图按“先闭环、再加固、后规模化”组织。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676656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6FA6"/>
                </a:solidFill>
                <a:latin typeface="Avenir Next Condensed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闭环可用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419856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稳定核心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04488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沉淀 20+ 代表任务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389120"/>
            <a:ext cx="82296" cy="82296"/>
          </a:xfrm>
          <a:prstGeom prst="roundRect">
            <a:avLst/>
          </a:prstGeom>
          <a:solidFill>
            <a:srgbClr val="2E6FA6"/>
          </a:solidFill>
          <a:ln>
            <a:solidFill>
              <a:srgbClr val="2E6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定义成功与退出标准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5" y="340156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2286000"/>
            <a:ext cx="676656" cy="265176"/>
          </a:xfrm>
          <a:prstGeom prst="roundRect">
            <a:avLst/>
          </a:prstGeom>
          <a:solidFill>
            <a:srgbClr val="EEE7D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85C36"/>
                </a:solidFill>
                <a:latin typeface="Avenir Next Condense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工程加固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3419856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权限策略与审计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3904488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上下文压缩与恢复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08576" y="4389120"/>
            <a:ext cx="82296" cy="82296"/>
          </a:xfrm>
          <a:prstGeom prst="round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验证器 / 测试沙箱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340156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6E6A60"/>
                </a:solidFill>
                <a:latin typeface="Avenir Next Condensed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039112"/>
            <a:ext cx="3401568" cy="309067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57616" y="2286000"/>
            <a:ext cx="676656" cy="265176"/>
          </a:xfrm>
          <a:prstGeom prst="roundRect">
            <a:avLst/>
          </a:prstGeom>
          <a:solidFill>
            <a:srgbClr val="FCFAF2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231800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E8657"/>
                </a:solidFill>
                <a:latin typeface="Avenir Next Condensed"/>
              </a:rPr>
              <a:t>LATER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770632"/>
            <a:ext cx="25603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252B35"/>
                </a:solidFill>
                <a:latin typeface="PingFang SC"/>
              </a:rPr>
              <a:t>规模化演进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75904" y="3419856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319272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插件和工具生态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75904" y="3904488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803904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可观测性与评估平台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75904" y="4389120"/>
            <a:ext cx="82296" cy="82296"/>
          </a:xfrm>
          <a:prstGeom prst="round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88536"/>
            <a:ext cx="26151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2B35"/>
                </a:solidFill>
                <a:latin typeface="PingFang SC"/>
              </a:rPr>
              <a:t>团队协同与知识沉淀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7315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61872"/>
            <a:ext cx="777240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252B35"/>
                </a:solidFill>
                <a:latin typeface="PingFang SC"/>
              </a:rPr>
              <a:t>把终端 AI Agent 当作
一条可验证的工程闭环。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9923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建议从一个真实任务集开始：先让它能完成，再让它可靠、可控、可持续演进。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59352"/>
            <a:ext cx="6995160" cy="731520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206240"/>
            <a:ext cx="6355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C36"/>
                </a:solidFill>
                <a:latin typeface="PingFang SC"/>
              </a:rPr>
              <a:t>讨论题：我们的第一个“必须稳定完成”的任务是什么？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9788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6E6A60"/>
                </a:solidFill>
                <a:latin typeface="Avenir Next Condense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5897880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1" i="0">
                <a:solidFill>
                  <a:srgbClr val="6E6A60"/>
                </a:solidFill>
                <a:latin typeface="Avenir Next Condensed"/>
              </a:rPr>
              <a:t>〔联系人 / 项目地址〕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5029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21  / 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52B35"/>
                </a:solidFill>
                <a:latin typeface="PingFang SC"/>
              </a:rPr>
              <a:t>后续展望：让终端 AI Agent 成为企业业务模型迭代的可靠基础设施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6E6A60"/>
                </a:solidFill>
                <a:latin typeface="PingFang SC"/>
              </a:rPr>
              <a:t>方向不是追求一次性“全自动”，而是把 Agent Loop、业务系统和评测治理逐步连成可验证、可回退的闭环。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64008" cy="201168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继续打磨企业内 Agent Loop + Auto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补齐安全、可靠、权限、验证、恢复与审计；把自动研究能力用于各类业务模型迭代。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2011680"/>
            <a:ext cx="64008" cy="2011680"/>
          </a:xfrm>
          <a:prstGeom prst="rect">
            <a:avLst/>
          </a:prstGeom>
          <a:solidFill>
            <a:srgbClr val="2E8657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8657"/>
                </a:solidFill>
                <a:latin typeface="Avenir Next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关联更多业务系统，提升自动化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从信息读取走向问题归因、问题抽象、动作建议、执行验证；优先接入可控、可回滚的系统。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011680"/>
            <a:ext cx="3438144" cy="2011680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2011680"/>
            <a:ext cx="64008" cy="2011680"/>
          </a:xfrm>
          <a:prstGeom prst="rect">
            <a:avLst/>
          </a:prstGeom>
          <a:solidFill>
            <a:srgbClr val="765A9B"/>
          </a:solidFill>
          <a:ln>
            <a:solidFill>
              <a:srgbClr val="76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267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65A9B"/>
                </a:solidFill>
                <a:latin typeface="Avenir Next Condense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606040"/>
            <a:ext cx="2907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52B35"/>
                </a:solidFill>
                <a:latin typeface="PingFang SC"/>
              </a:rPr>
              <a:t>建立人机协同的评测与治理飞轮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278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6E6A60"/>
                </a:solidFill>
                <a:latin typeface="PingFang SC"/>
              </a:rPr>
              <a:t>沉淀真实任务集、成功/可靠/成本/风险指标和证据链；将人工审批与复盘变成下一轮能力输入。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5296" y="4681728"/>
            <a:ext cx="9747504" cy="841248"/>
          </a:xfrm>
          <a:prstGeom prst="roundRect">
            <a:avLst/>
          </a:prstGeom>
          <a:solidFill>
            <a:srgbClr val="EDF3EF"/>
          </a:solidFill>
          <a:ln>
            <a:solidFill>
              <a:srgbClr val="2E8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882896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实践中的失败、人工介入、权限拒绝、超时与验收证据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8289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2E8657"/>
                </a:solidFill>
                <a:latin typeface="Avenir Next Condense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4882896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E8657"/>
                </a:solidFill>
                <a:latin typeface="PingFang SC"/>
              </a:rPr>
              <a:t>反哺 agent_biz：工具、提示、状态、权限与验证机制持续迭代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488289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50" b="1" i="0">
                <a:solidFill>
                  <a:srgbClr val="2E8657"/>
                </a:solidFill>
                <a:latin typeface="Avenir Next Condense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88289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更适配企业业务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2531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70" b="1" i="0">
                <a:solidFill>
                  <a:srgbClr val="252B35"/>
                </a:solidFill>
                <a:latin typeface="PingFang SC"/>
              </a:rPr>
              <a:t>原则：每扩展一项自动化能力，都同步定义它的责任边界、评测任务、人工接管点和回滚方案。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6565392"/>
            <a:ext cx="3611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6E6A60"/>
                </a:solidFill>
                <a:latin typeface="Avenir Next Condensed"/>
              </a:rPr>
              <a:t>TERMINAL AI AGENT RESEARCH  · 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5C36"/>
          </a:solidFill>
          <a:ln>
            <a:solidFill>
              <a:srgbClr val="B8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3152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B85C36"/>
                </a:solidFill>
                <a:latin typeface="Avenir Next Condensed"/>
              </a:rPr>
              <a:t>THANK YOU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70408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52B35"/>
                </a:solidFill>
                <a:latin typeface="PingFang SC"/>
              </a:rPr>
              <a:t>从一个真实任务开始，
把 Agent 做成可验证的企业能力。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7086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6E6A60"/>
                </a:solidFill>
                <a:latin typeface="PingFang SC"/>
              </a:rPr>
              <a:t>欢迎讨论：第一个值得交给终端 AI Agent 稳定完成的业务任务，应该是什么？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886200"/>
            <a:ext cx="7040880" cy="749808"/>
          </a:xfrm>
          <a:prstGeom prst="roundRect">
            <a:avLst/>
          </a:prstGeom>
          <a:solidFill>
            <a:srgbClr val="EEE7D6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4169663"/>
            <a:ext cx="6455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 i="0">
                <a:solidFill>
                  <a:srgbClr val="B85C36"/>
                </a:solidFill>
                <a:latin typeface="PingFang SC"/>
              </a:rPr>
              <a:t>感谢聆听  ·  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987552"/>
            <a:ext cx="3493008" cy="4553712"/>
          </a:xfrm>
          <a:prstGeom prst="roundRect">
            <a:avLst/>
          </a:prstGeom>
          <a:solidFill>
            <a:srgbClr val="FCFAF2"/>
          </a:solidFill>
          <a:ln>
            <a:solidFill>
              <a:srgbClr val="DD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26187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6FA6"/>
                </a:solidFill>
                <a:latin typeface="Avenir Next Condensed"/>
              </a:rPr>
              <a:t>REFERENCES /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157276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A60"/>
                </a:solidFill>
                <a:latin typeface="PingFang SC"/>
              </a:rPr>
              <a:t>参考资料与项目地址（点击访问）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938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938528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2"/>
              </a:rPr>
              <a:t>Ink1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5915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359152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3"/>
              </a:rPr>
              <a:t>ink2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77977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779776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4"/>
              </a:rPr>
              <a:t>Harness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320040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200400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5"/>
              </a:rPr>
              <a:t>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62102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621024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6"/>
              </a:rPr>
              <a:t>本地运行的测试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041648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7"/>
              </a:rPr>
              <a:t>构建CLI Agent的取舍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46227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462272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8"/>
              </a:rPr>
              <a:t>详细CLI Agent Harness对比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88289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5C36"/>
                </a:solidFill>
                <a:latin typeface="Avenir Next Condensed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882896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6FA6"/>
                </a:solidFill>
                <a:latin typeface="PingFang SC"/>
                <a:hlinkClick r:id="rId9"/>
              </a:rPr>
              <a:t>Agent_biz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9788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6E6A60"/>
                </a:solidFill>
                <a:latin typeface="Avenir Next Condensed"/>
              </a:rPr>
              <a:t>agent_biz / Qfin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5897880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1" i="0">
                <a:solidFill>
                  <a:srgbClr val="6E6A60"/>
                </a:solidFill>
                <a:latin typeface="Avenir Next Condensed"/>
              </a:rPr>
              <a:t>资源链接详见右侧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